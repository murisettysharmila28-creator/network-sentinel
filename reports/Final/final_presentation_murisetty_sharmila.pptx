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3" r:id="rId2"/>
    <p:sldId id="264" r:id="rId3"/>
    <p:sldId id="265" r:id="rId4"/>
    <p:sldId id="259" r:id="rId5"/>
    <p:sldId id="270" r:id="rId6"/>
    <p:sldId id="271" r:id="rId7"/>
    <p:sldId id="266" r:id="rId8"/>
    <p:sldId id="257" r:id="rId9"/>
    <p:sldId id="258" r:id="rId10"/>
    <p:sldId id="261" r:id="rId11"/>
    <p:sldId id="260" r:id="rId12"/>
    <p:sldId id="262" r:id="rId13"/>
    <p:sldId id="267" r:id="rId14"/>
    <p:sldId id="272" r:id="rId15"/>
    <p:sldId id="268" r:id="rId16"/>
    <p:sldId id="269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E1188-F655-4BFF-87C9-101FED72F5A0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B536A-55D8-41A4-A31A-85847DD876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944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F880-12C0-F707-6CBE-707EF8FF6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86975-95F8-3B22-6DC0-497A3847C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7A12B-8D8D-AE15-DCA0-5F5862572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ED4C5-8744-46F9-93AA-64F5A697E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E443E-A2CD-44E5-62D8-668F6CCD2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253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8A09-3D87-40ED-608C-072CA1C0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5FE53-7751-8152-06D0-02BEB3B5C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E06BD-5B15-B9A5-052A-921E1B35D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7BB2-9383-C6F3-4C82-884A58DA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5A86C-F4C0-AC3D-64CA-FC50BFE6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089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AE66-88B6-8046-EBDB-C03BB273F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AF700-27D9-F149-12F7-44B6BF5A4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61E0D-2218-BE34-0A79-61BA60E3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89CCC-553E-2F46-602B-61645E73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12D89-F655-A057-3CC4-DF31D8C6B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263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6F97-E540-8D11-E042-DD09FC3AF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92718-C3BB-C0B5-586A-BF9528228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2B05E-C5D6-A922-0588-23E472316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EF0EF-5F5E-CF04-FEE1-3137CD86F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10228-B36E-B7C9-722B-ACEEF25FD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53377-D271-8892-9AE5-AABC1605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889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F707-3DEE-A93D-F9F8-081324351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CE0E6-2874-0023-0944-23DC1AE7A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D3F05-53A6-E0FA-57EE-A0487979E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F08CD0-C4DE-625B-10BD-6E5D453DB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9953F-8CB0-667A-3863-4DD2D52F8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FAA202-3EA5-DF0F-8FC8-2A80B5A43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5D21CB-8BFA-976B-48E3-AAA943A60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37CBF-E624-C898-440C-00BF0671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812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04A73-2A94-A5AC-8E2A-46CBEE7B2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C5117F-0554-5CF8-03C5-97CD725E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ED7F5-F692-ECB3-F0A4-13F62238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672A2-E793-71BD-3287-D89C6C02E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7411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A0BBE-3DF6-310C-CEF2-5F1F234E1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97B70E-9625-641B-9A55-0EE18353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1F147-DB70-D7FF-7ABF-2C880695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980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05AD4-EB30-336D-174A-D71D644B7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C4C79-A2A6-78D4-663D-0EA38E7CD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79934-1256-B82D-8EB9-82B5FE13E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EAD1F-E500-B578-9DB2-FB1937D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A91DC-6B70-BC9E-8086-56A89F49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8566D-EF72-B4E2-F46E-5F293A0B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3524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E8159-3311-036A-C4E0-7DEEB18A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2B227-5D84-AEE1-0819-24A4CC7363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40B8D-85F5-FE1D-2674-B3E811591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AC04E-6E64-8116-41EE-56CB177B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2DB79-4CC0-5C8E-51E7-1622C098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E4287-5A67-CF76-2544-ADEFF1A6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499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9EFEB-47E8-6A0D-FB0A-DD9D58749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65F8A-54BF-7026-BF01-0EC6DB897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A97F0-5E3F-F1F8-99AA-323BA93C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B2610-828A-6AC8-F695-B8114D961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859C9-4F89-620B-5374-7C3F6AA1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324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71098-B442-903A-313B-FBA6A25FF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4F2F6-02C1-7593-674F-F61F27010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DB9EC-ED7F-4439-D1A0-FD66E5BF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82F19-2C9A-67CF-308F-120B2E394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E421E-C12B-DD3B-6128-9E45648D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5043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 sz="1500"/>
          </a:p>
        </p:txBody>
      </p:sp>
    </p:spTree>
    <p:extLst>
      <p:ext uri="{BB962C8B-B14F-4D97-AF65-F5344CB8AC3E}">
        <p14:creationId xmlns:p14="http://schemas.microsoft.com/office/powerpoint/2010/main" val="652141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433710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93496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078760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393269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886241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6948426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46335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713759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1A33E-C035-98F3-9F5B-CFFDC0E76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6933F-016E-9421-04DA-19AB5A60A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BC05A-A4CF-EC7A-1651-6CF61DC931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AB0EC-7076-4D52-8CB0-1B41AFB3693F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A0726-A7FA-2A51-3AB5-F45E0A91B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CD37E-1578-2FB6-5D7D-F62534249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267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355031"/>
            <a:ext cx="4341614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50"/>
              </a:lnSpc>
            </a:pPr>
            <a:r>
              <a:rPr lang="en-US" sz="3417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Network Sentinel</a:t>
            </a:r>
            <a:endParaRPr lang="en-US" sz="3417" dirty="0"/>
          </a:p>
        </p:txBody>
      </p:sp>
      <p:sp>
        <p:nvSpPr>
          <p:cNvPr id="3" name="Text 1"/>
          <p:cNvSpPr/>
          <p:nvPr/>
        </p:nvSpPr>
        <p:spPr>
          <a:xfrm>
            <a:off x="661492" y="2145804"/>
            <a:ext cx="10869018" cy="149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75"/>
              </a:lnSpc>
            </a:pPr>
            <a:r>
              <a:rPr lang="en-US" sz="4708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 + RAG for Intrusion Detection &amp; Incident Intelligence</a:t>
            </a:r>
            <a:endParaRPr lang="en-US" sz="4708" dirty="0"/>
          </a:p>
        </p:txBody>
      </p:sp>
      <p:sp>
        <p:nvSpPr>
          <p:cNvPr id="4" name="Shape 2"/>
          <p:cNvSpPr/>
          <p:nvPr/>
        </p:nvSpPr>
        <p:spPr>
          <a:xfrm>
            <a:off x="661492" y="3932932"/>
            <a:ext cx="10869018" cy="12403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5" name="Shape 3"/>
          <p:cNvSpPr/>
          <p:nvPr/>
        </p:nvSpPr>
        <p:spPr>
          <a:xfrm>
            <a:off x="661492" y="4172644"/>
            <a:ext cx="2599531" cy="310952"/>
          </a:xfrm>
          <a:prstGeom prst="roundRect">
            <a:avLst>
              <a:gd name="adj" fmla="val 6383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CA" sz="15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710" y="4261942"/>
            <a:ext cx="132258" cy="1322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9049" y="4222254"/>
            <a:ext cx="2202756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SHARMILA MURISETTY - 041200488</a:t>
            </a:r>
            <a:endParaRPr lang="en-US" sz="1042" dirty="0"/>
          </a:p>
        </p:txBody>
      </p:sp>
      <p:sp>
        <p:nvSpPr>
          <p:cNvPr id="8" name="Shape 5"/>
          <p:cNvSpPr/>
          <p:nvPr/>
        </p:nvSpPr>
        <p:spPr>
          <a:xfrm>
            <a:off x="661492" y="4669632"/>
            <a:ext cx="5067201" cy="32365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CA" sz="15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060" y="4765279"/>
            <a:ext cx="132258" cy="1322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5398" y="4725591"/>
            <a:ext cx="4657725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 INTELLIGENCE PROGRAM ADVANCED CONCEPTS - CST2213_300</a:t>
            </a:r>
            <a:endParaRPr lang="en-US" sz="1042" dirty="0"/>
          </a:p>
        </p:txBody>
      </p:sp>
      <p:sp>
        <p:nvSpPr>
          <p:cNvPr id="11" name="Shape 7"/>
          <p:cNvSpPr/>
          <p:nvPr/>
        </p:nvSpPr>
        <p:spPr>
          <a:xfrm>
            <a:off x="661492" y="5179318"/>
            <a:ext cx="1785243" cy="32365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CA" sz="15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7060" y="5274965"/>
            <a:ext cx="132258" cy="1322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5399" y="5235278"/>
            <a:ext cx="1375768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ALGONQUIN COLLEGE</a:t>
            </a:r>
            <a:endParaRPr lang="en-US" sz="10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6237" y="1517920"/>
            <a:ext cx="7974112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50"/>
              </a:lnSpc>
            </a:pPr>
            <a:r>
              <a:rPr lang="en-US" sz="3417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Gap Between Detection and Decision</a:t>
            </a:r>
            <a:endParaRPr lang="en-US" sz="3417" dirty="0"/>
          </a:p>
        </p:txBody>
      </p:sp>
      <p:sp>
        <p:nvSpPr>
          <p:cNvPr id="5" name="Text 3"/>
          <p:cNvSpPr/>
          <p:nvPr/>
        </p:nvSpPr>
        <p:spPr>
          <a:xfrm>
            <a:off x="656237" y="2437933"/>
            <a:ext cx="108690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Intrusion Detection Systems were built to raise alarms not to explain them. Security teams are left with raw alerts and no actionable context, creating a critical gap that slows response and increases risk.</a:t>
            </a:r>
            <a:endParaRPr lang="en-US" sz="1292" dirty="0"/>
          </a:p>
        </p:txBody>
      </p:sp>
      <p:sp>
        <p:nvSpPr>
          <p:cNvPr id="6" name="Text 4"/>
          <p:cNvSpPr/>
          <p:nvPr/>
        </p:nvSpPr>
        <p:spPr>
          <a:xfrm>
            <a:off x="661492" y="3589933"/>
            <a:ext cx="217080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Traditional IDS</a:t>
            </a:r>
            <a:endParaRPr lang="en-US" sz="1708" dirty="0"/>
          </a:p>
        </p:txBody>
      </p:sp>
      <p:sp>
        <p:nvSpPr>
          <p:cNvPr id="7" name="Text 5"/>
          <p:cNvSpPr/>
          <p:nvPr/>
        </p:nvSpPr>
        <p:spPr>
          <a:xfrm>
            <a:off x="661492" y="4026595"/>
            <a:ext cx="5232797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Generates alerts only - no explanation</a:t>
            </a:r>
            <a:endParaRPr lang="en-US" sz="1292" dirty="0"/>
          </a:p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Lacks contextual intelligence</a:t>
            </a:r>
            <a:endParaRPr lang="en-US" sz="1292" dirty="0"/>
          </a:p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manual, expert interpretation</a:t>
            </a:r>
            <a:endParaRPr lang="en-US" sz="1292" dirty="0"/>
          </a:p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 incident response cycle</a:t>
            </a:r>
            <a:endParaRPr lang="en-US" sz="1292" dirty="0"/>
          </a:p>
        </p:txBody>
      </p:sp>
      <p:sp>
        <p:nvSpPr>
          <p:cNvPr id="8" name="Text 6"/>
          <p:cNvSpPr/>
          <p:nvPr/>
        </p:nvSpPr>
        <p:spPr>
          <a:xfrm>
            <a:off x="6304062" y="3589933"/>
            <a:ext cx="217080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Intelligent Insight</a:t>
            </a:r>
            <a:endParaRPr lang="en-US" sz="1708" dirty="0"/>
          </a:p>
        </p:txBody>
      </p:sp>
      <p:sp>
        <p:nvSpPr>
          <p:cNvPr id="9" name="Text 7"/>
          <p:cNvSpPr/>
          <p:nvPr/>
        </p:nvSpPr>
        <p:spPr>
          <a:xfrm>
            <a:off x="6304062" y="4026595"/>
            <a:ext cx="5232797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Predicts attack type with confidence score</a:t>
            </a:r>
            <a:endParaRPr lang="en-US" sz="1292" dirty="0"/>
          </a:p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severity classification</a:t>
            </a:r>
            <a:endParaRPr lang="en-US" sz="1292" dirty="0"/>
          </a:p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Delivers contextual explanation automatically</a:t>
            </a:r>
            <a:endParaRPr lang="en-US" sz="1292" dirty="0"/>
          </a:p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Recommends mitigation steps instantly</a:t>
            </a:r>
            <a:endParaRPr lang="en-US" sz="1292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9C654278-21E3-F3F6-418A-D352A3599818}"/>
              </a:ext>
            </a:extLst>
          </p:cNvPr>
          <p:cNvSpPr/>
          <p:nvPr/>
        </p:nvSpPr>
        <p:spPr>
          <a:xfrm>
            <a:off x="656237" y="701494"/>
            <a:ext cx="3499028" cy="471770"/>
          </a:xfrm>
          <a:prstGeom prst="roundRect">
            <a:avLst>
              <a:gd name="adj" fmla="val 6383"/>
            </a:avLst>
          </a:prstGeom>
          <a:solidFill>
            <a:srgbClr val="FFDECC"/>
          </a:solidFill>
          <a:ln/>
        </p:spPr>
        <p:txBody>
          <a:bodyPr/>
          <a:lstStyle/>
          <a:p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STATEMENT</a:t>
            </a:r>
            <a:endParaRPr lang="en-US" sz="2400" dirty="0"/>
          </a:p>
          <a:p>
            <a:endParaRPr lang="en-CA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559297"/>
            <a:ext cx="4003435" cy="529233"/>
          </a:xfrm>
          <a:prstGeom prst="roundRect">
            <a:avLst>
              <a:gd name="adj" fmla="val 6383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3" name="Text 1"/>
          <p:cNvSpPr/>
          <p:nvPr/>
        </p:nvSpPr>
        <p:spPr>
          <a:xfrm>
            <a:off x="760710" y="827187"/>
            <a:ext cx="132447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3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91" y="1532781"/>
            <a:ext cx="108690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Sentinel bridges the detection gap by combining the predictive power of Machine Learning with the contextual depth of Retrieval-Augmented Generation. The result is a system that doesn't just detect threats it explains them and guides response.</a:t>
            </a:r>
            <a:endParaRPr lang="en-US" sz="1292" dirty="0"/>
          </a:p>
        </p:txBody>
      </p:sp>
      <p:sp>
        <p:nvSpPr>
          <p:cNvPr id="6" name="Shape 4"/>
          <p:cNvSpPr/>
          <p:nvPr/>
        </p:nvSpPr>
        <p:spPr>
          <a:xfrm>
            <a:off x="661492" y="2660650"/>
            <a:ext cx="5351859" cy="1627188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7" name="Shape 5"/>
          <p:cNvSpPr/>
          <p:nvPr/>
        </p:nvSpPr>
        <p:spPr>
          <a:xfrm>
            <a:off x="826791" y="2825949"/>
            <a:ext cx="496094" cy="496094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CA" sz="15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216" y="2962275"/>
            <a:ext cx="223243" cy="2232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6790" y="3487341"/>
            <a:ext cx="217080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Prediction</a:t>
            </a:r>
            <a:endParaRPr lang="en-US" sz="1708" dirty="0"/>
          </a:p>
        </p:txBody>
      </p:sp>
      <p:sp>
        <p:nvSpPr>
          <p:cNvPr id="10" name="Text 7"/>
          <p:cNvSpPr/>
          <p:nvPr/>
        </p:nvSpPr>
        <p:spPr>
          <a:xfrm>
            <a:off x="826790" y="3857922"/>
            <a:ext cx="50212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Classifies attack type with XGBoost at </a:t>
            </a:r>
            <a:r>
              <a:rPr lang="en-US" sz="1292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99.97%</a:t>
            </a: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accuracy</a:t>
            </a:r>
            <a:endParaRPr lang="en-US" sz="1292" dirty="0"/>
          </a:p>
        </p:txBody>
      </p:sp>
      <p:sp>
        <p:nvSpPr>
          <p:cNvPr id="11" name="Shape 8"/>
          <p:cNvSpPr/>
          <p:nvPr/>
        </p:nvSpPr>
        <p:spPr>
          <a:xfrm>
            <a:off x="6178650" y="2660650"/>
            <a:ext cx="5351859" cy="1627188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12" name="Shape 9"/>
          <p:cNvSpPr/>
          <p:nvPr/>
        </p:nvSpPr>
        <p:spPr>
          <a:xfrm>
            <a:off x="6343948" y="2825949"/>
            <a:ext cx="496094" cy="496094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CA" sz="15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0374" y="2962275"/>
            <a:ext cx="223243" cy="2232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43947" y="3487341"/>
            <a:ext cx="217080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Confidence &amp; Severity</a:t>
            </a:r>
            <a:endParaRPr lang="en-US" sz="1708" dirty="0"/>
          </a:p>
        </p:txBody>
      </p:sp>
      <p:sp>
        <p:nvSpPr>
          <p:cNvPr id="15" name="Text 11"/>
          <p:cNvSpPr/>
          <p:nvPr/>
        </p:nvSpPr>
        <p:spPr>
          <a:xfrm>
            <a:off x="6343948" y="3857922"/>
            <a:ext cx="50212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Scores each detection with probability and risk level</a:t>
            </a:r>
            <a:endParaRPr lang="en-US" sz="1292" dirty="0"/>
          </a:p>
        </p:txBody>
      </p:sp>
      <p:sp>
        <p:nvSpPr>
          <p:cNvPr id="16" name="Shape 12"/>
          <p:cNvSpPr/>
          <p:nvPr/>
        </p:nvSpPr>
        <p:spPr>
          <a:xfrm>
            <a:off x="661492" y="4453136"/>
            <a:ext cx="5351859" cy="1627188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17" name="Shape 13"/>
          <p:cNvSpPr/>
          <p:nvPr/>
        </p:nvSpPr>
        <p:spPr>
          <a:xfrm>
            <a:off x="826791" y="4618435"/>
            <a:ext cx="496094" cy="496094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CA" sz="15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216" y="4754761"/>
            <a:ext cx="223243" cy="2232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6790" y="5279827"/>
            <a:ext cx="228431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Contextual Explanation</a:t>
            </a:r>
            <a:endParaRPr lang="en-US" sz="1708" dirty="0"/>
          </a:p>
        </p:txBody>
      </p:sp>
      <p:sp>
        <p:nvSpPr>
          <p:cNvPr id="20" name="Text 15"/>
          <p:cNvSpPr/>
          <p:nvPr/>
        </p:nvSpPr>
        <p:spPr>
          <a:xfrm>
            <a:off x="826790" y="5650408"/>
            <a:ext cx="50212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RAG retrieves relevant threat knowledge automatically</a:t>
            </a:r>
            <a:endParaRPr lang="en-US" sz="1292" dirty="0"/>
          </a:p>
        </p:txBody>
      </p:sp>
      <p:sp>
        <p:nvSpPr>
          <p:cNvPr id="21" name="Shape 16"/>
          <p:cNvSpPr/>
          <p:nvPr/>
        </p:nvSpPr>
        <p:spPr>
          <a:xfrm>
            <a:off x="6178650" y="4453136"/>
            <a:ext cx="5351859" cy="1627188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22" name="Shape 17"/>
          <p:cNvSpPr/>
          <p:nvPr/>
        </p:nvSpPr>
        <p:spPr>
          <a:xfrm>
            <a:off x="6343948" y="4618435"/>
            <a:ext cx="496094" cy="496094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CA" sz="15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0374" y="4754761"/>
            <a:ext cx="223243" cy="22324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43947" y="5279827"/>
            <a:ext cx="217080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Mitigation Guidance</a:t>
            </a:r>
            <a:endParaRPr lang="en-US" sz="1708" dirty="0"/>
          </a:p>
        </p:txBody>
      </p:sp>
      <p:sp>
        <p:nvSpPr>
          <p:cNvPr id="25" name="Text 19"/>
          <p:cNvSpPr/>
          <p:nvPr/>
        </p:nvSpPr>
        <p:spPr>
          <a:xfrm>
            <a:off x="6343948" y="5650408"/>
            <a:ext cx="50212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generates actionable, human-readable response steps</a:t>
            </a:r>
            <a:endParaRPr lang="en-US" sz="129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0217" y="471290"/>
            <a:ext cx="1422797" cy="285056"/>
          </a:xfrm>
          <a:prstGeom prst="roundRect">
            <a:avLst>
              <a:gd name="adj" fmla="val 6527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3" name="Text 1"/>
          <p:cNvSpPr/>
          <p:nvPr/>
        </p:nvSpPr>
        <p:spPr>
          <a:xfrm>
            <a:off x="713185" y="517723"/>
            <a:ext cx="1236861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95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&amp; FEATURES</a:t>
            </a:r>
            <a:endParaRPr lang="en-US" sz="958" dirty="0"/>
          </a:p>
        </p:txBody>
      </p:sp>
      <p:sp>
        <p:nvSpPr>
          <p:cNvPr id="4" name="Text 2"/>
          <p:cNvSpPr/>
          <p:nvPr/>
        </p:nvSpPr>
        <p:spPr>
          <a:xfrm>
            <a:off x="620217" y="814487"/>
            <a:ext cx="5687616" cy="50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US" sz="3167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CICIDS Dataset - Scale &amp; Scope</a:t>
            </a:r>
            <a:endParaRPr lang="en-US" sz="3167" dirty="0"/>
          </a:p>
        </p:txBody>
      </p:sp>
      <p:sp>
        <p:nvSpPr>
          <p:cNvPr id="5" name="Text 3"/>
          <p:cNvSpPr/>
          <p:nvPr/>
        </p:nvSpPr>
        <p:spPr>
          <a:xfrm>
            <a:off x="620217" y="1686520"/>
            <a:ext cx="203507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Dataset Specifications</a:t>
            </a:r>
            <a:endParaRPr lang="en-US" sz="1583" dirty="0"/>
          </a:p>
        </p:txBody>
      </p:sp>
      <p:sp>
        <p:nvSpPr>
          <p:cNvPr id="6" name="Text 4"/>
          <p:cNvSpPr/>
          <p:nvPr/>
        </p:nvSpPr>
        <p:spPr>
          <a:xfrm>
            <a:off x="620217" y="2086174"/>
            <a:ext cx="4720133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208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</a:t>
            </a:r>
            <a:r>
              <a:rPr lang="en-US" sz="120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CICIDS - Wednesday-workingHours.pcap_ISCX.csv</a:t>
            </a:r>
            <a:endParaRPr lang="en-US" sz="1208" dirty="0"/>
          </a:p>
        </p:txBody>
      </p:sp>
      <p:sp>
        <p:nvSpPr>
          <p:cNvPr id="7" name="Text 5"/>
          <p:cNvSpPr/>
          <p:nvPr/>
        </p:nvSpPr>
        <p:spPr>
          <a:xfrm>
            <a:off x="620217" y="2567484"/>
            <a:ext cx="4720133" cy="51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000"/>
              </a:lnSpc>
            </a:pPr>
            <a:r>
              <a:rPr lang="en-US" sz="4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692K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962745" y="3265587"/>
            <a:ext cx="203507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sz="158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Raw Rows</a:t>
            </a:r>
            <a:endParaRPr lang="en-US" sz="1583" dirty="0"/>
          </a:p>
        </p:txBody>
      </p:sp>
      <p:sp>
        <p:nvSpPr>
          <p:cNvPr id="9" name="Text 7"/>
          <p:cNvSpPr/>
          <p:nvPr/>
        </p:nvSpPr>
        <p:spPr>
          <a:xfrm>
            <a:off x="620217" y="3665240"/>
            <a:ext cx="4720133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20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Original dataset records</a:t>
            </a:r>
            <a:endParaRPr lang="en-US" sz="1208" dirty="0"/>
          </a:p>
        </p:txBody>
      </p:sp>
      <p:sp>
        <p:nvSpPr>
          <p:cNvPr id="10" name="Text 8"/>
          <p:cNvSpPr/>
          <p:nvPr/>
        </p:nvSpPr>
        <p:spPr>
          <a:xfrm>
            <a:off x="620217" y="4273749"/>
            <a:ext cx="4720133" cy="51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000"/>
              </a:lnSpc>
            </a:pPr>
            <a:r>
              <a:rPr lang="en-US" sz="4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962745" y="4971852"/>
            <a:ext cx="203507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sz="158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Final Features</a:t>
            </a:r>
            <a:endParaRPr lang="en-US" sz="1583" dirty="0"/>
          </a:p>
        </p:txBody>
      </p:sp>
      <p:sp>
        <p:nvSpPr>
          <p:cNvPr id="12" name="Text 10"/>
          <p:cNvSpPr/>
          <p:nvPr/>
        </p:nvSpPr>
        <p:spPr>
          <a:xfrm>
            <a:off x="620217" y="5371505"/>
            <a:ext cx="4720133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20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preprocessing &amp; engineering</a:t>
            </a:r>
            <a:endParaRPr lang="en-US" sz="1208" dirty="0"/>
          </a:p>
        </p:txBody>
      </p:sp>
      <p:sp>
        <p:nvSpPr>
          <p:cNvPr id="13" name="Text 11"/>
          <p:cNvSpPr/>
          <p:nvPr/>
        </p:nvSpPr>
        <p:spPr>
          <a:xfrm>
            <a:off x="620217" y="5775325"/>
            <a:ext cx="4720133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20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preprocessing: </a:t>
            </a:r>
            <a:r>
              <a:rPr lang="en-US" sz="1208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~610,794 rows</a:t>
            </a:r>
            <a:r>
              <a:rPr lang="en-US" sz="120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r>
              <a:rPr lang="en-US" sz="1208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 features</a:t>
            </a:r>
            <a:r>
              <a:rPr lang="en-US" sz="120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cleaned, scaled, and label-encoded.</a:t>
            </a:r>
            <a:endParaRPr lang="en-US" sz="1208" dirty="0"/>
          </a:p>
        </p:txBody>
      </p:sp>
      <p:sp>
        <p:nvSpPr>
          <p:cNvPr id="14" name="Text 12"/>
          <p:cNvSpPr/>
          <p:nvPr/>
        </p:nvSpPr>
        <p:spPr>
          <a:xfrm>
            <a:off x="5724922" y="1686520"/>
            <a:ext cx="215205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Attack Classes Detected</a:t>
            </a:r>
            <a:endParaRPr lang="en-US" sz="1583" dirty="0"/>
          </a:p>
        </p:txBody>
      </p:sp>
      <p:sp>
        <p:nvSpPr>
          <p:cNvPr id="15" name="Shape 13"/>
          <p:cNvSpPr/>
          <p:nvPr/>
        </p:nvSpPr>
        <p:spPr>
          <a:xfrm>
            <a:off x="5724922" y="2104331"/>
            <a:ext cx="2853829" cy="988020"/>
          </a:xfrm>
          <a:prstGeom prst="roundRect">
            <a:avLst>
              <a:gd name="adj" fmla="val 235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CA" sz="1500"/>
          </a:p>
        </p:txBody>
      </p:sp>
      <p:sp>
        <p:nvSpPr>
          <p:cNvPr id="16" name="Text 14"/>
          <p:cNvSpPr/>
          <p:nvPr/>
        </p:nvSpPr>
        <p:spPr>
          <a:xfrm>
            <a:off x="5898952" y="2278360"/>
            <a:ext cx="203507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DoS / DDoS</a:t>
            </a:r>
            <a:endParaRPr lang="en-US" sz="1583" dirty="0"/>
          </a:p>
        </p:txBody>
      </p:sp>
      <p:sp>
        <p:nvSpPr>
          <p:cNvPr id="17" name="Text 15"/>
          <p:cNvSpPr/>
          <p:nvPr/>
        </p:nvSpPr>
        <p:spPr>
          <a:xfrm>
            <a:off x="5898952" y="2678014"/>
            <a:ext cx="2505769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20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Volume-based denial attacks</a:t>
            </a:r>
            <a:endParaRPr lang="en-US" sz="1208" dirty="0"/>
          </a:p>
        </p:txBody>
      </p:sp>
      <p:sp>
        <p:nvSpPr>
          <p:cNvPr id="18" name="Shape 16"/>
          <p:cNvSpPr/>
          <p:nvPr/>
        </p:nvSpPr>
        <p:spPr>
          <a:xfrm>
            <a:off x="8724106" y="2104331"/>
            <a:ext cx="2853928" cy="988020"/>
          </a:xfrm>
          <a:prstGeom prst="roundRect">
            <a:avLst>
              <a:gd name="adj" fmla="val 235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CA" sz="1500"/>
          </a:p>
        </p:txBody>
      </p:sp>
      <p:sp>
        <p:nvSpPr>
          <p:cNvPr id="19" name="Text 17"/>
          <p:cNvSpPr/>
          <p:nvPr/>
        </p:nvSpPr>
        <p:spPr>
          <a:xfrm>
            <a:off x="8898136" y="2278360"/>
            <a:ext cx="203507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Heartbleed</a:t>
            </a:r>
            <a:endParaRPr lang="en-US" sz="1583" dirty="0"/>
          </a:p>
        </p:txBody>
      </p:sp>
      <p:sp>
        <p:nvSpPr>
          <p:cNvPr id="20" name="Text 18"/>
          <p:cNvSpPr/>
          <p:nvPr/>
        </p:nvSpPr>
        <p:spPr>
          <a:xfrm>
            <a:off x="8898136" y="2678014"/>
            <a:ext cx="2505869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20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disclosure exploit</a:t>
            </a:r>
            <a:endParaRPr lang="en-US" sz="1208" dirty="0"/>
          </a:p>
        </p:txBody>
      </p:sp>
      <p:sp>
        <p:nvSpPr>
          <p:cNvPr id="21" name="Shape 19"/>
          <p:cNvSpPr/>
          <p:nvPr/>
        </p:nvSpPr>
        <p:spPr>
          <a:xfrm>
            <a:off x="5724922" y="3237706"/>
            <a:ext cx="2853829" cy="988020"/>
          </a:xfrm>
          <a:prstGeom prst="roundRect">
            <a:avLst>
              <a:gd name="adj" fmla="val 235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CA" sz="1500"/>
          </a:p>
        </p:txBody>
      </p:sp>
      <p:sp>
        <p:nvSpPr>
          <p:cNvPr id="22" name="Text 20"/>
          <p:cNvSpPr/>
          <p:nvPr/>
        </p:nvSpPr>
        <p:spPr>
          <a:xfrm>
            <a:off x="5898952" y="3411736"/>
            <a:ext cx="203507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Web Attacks</a:t>
            </a:r>
            <a:endParaRPr lang="en-US" sz="1583" dirty="0"/>
          </a:p>
        </p:txBody>
      </p:sp>
      <p:sp>
        <p:nvSpPr>
          <p:cNvPr id="23" name="Text 21"/>
          <p:cNvSpPr/>
          <p:nvPr/>
        </p:nvSpPr>
        <p:spPr>
          <a:xfrm>
            <a:off x="5898952" y="3811389"/>
            <a:ext cx="2505769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20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Injection, XSS, Brute Force</a:t>
            </a:r>
            <a:endParaRPr lang="en-US" sz="1208" dirty="0"/>
          </a:p>
        </p:txBody>
      </p:sp>
      <p:sp>
        <p:nvSpPr>
          <p:cNvPr id="24" name="Shape 22"/>
          <p:cNvSpPr/>
          <p:nvPr/>
        </p:nvSpPr>
        <p:spPr>
          <a:xfrm>
            <a:off x="8724106" y="3237706"/>
            <a:ext cx="2853928" cy="988020"/>
          </a:xfrm>
          <a:prstGeom prst="roundRect">
            <a:avLst>
              <a:gd name="adj" fmla="val 235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CA" sz="1500"/>
          </a:p>
        </p:txBody>
      </p:sp>
      <p:sp>
        <p:nvSpPr>
          <p:cNvPr id="25" name="Text 23"/>
          <p:cNvSpPr/>
          <p:nvPr/>
        </p:nvSpPr>
        <p:spPr>
          <a:xfrm>
            <a:off x="8898136" y="3411736"/>
            <a:ext cx="203507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Infiltration</a:t>
            </a:r>
            <a:endParaRPr lang="en-US" sz="1583" dirty="0"/>
          </a:p>
        </p:txBody>
      </p:sp>
      <p:sp>
        <p:nvSpPr>
          <p:cNvPr id="26" name="Text 24"/>
          <p:cNvSpPr/>
          <p:nvPr/>
        </p:nvSpPr>
        <p:spPr>
          <a:xfrm>
            <a:off x="8898136" y="3811389"/>
            <a:ext cx="2505869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20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Lateral movement patterns</a:t>
            </a:r>
            <a:endParaRPr lang="en-US" sz="1208" dirty="0"/>
          </a:p>
        </p:txBody>
      </p:sp>
      <p:sp>
        <p:nvSpPr>
          <p:cNvPr id="27" name="Text 25"/>
          <p:cNvSpPr/>
          <p:nvPr/>
        </p:nvSpPr>
        <p:spPr>
          <a:xfrm>
            <a:off x="5724922" y="4389240"/>
            <a:ext cx="5853113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208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Engineered Features:</a:t>
            </a:r>
            <a:r>
              <a:rPr lang="en-US" sz="120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Total Packets · Packets per Second - capturing traffic intensity and flow behavior.</a:t>
            </a:r>
            <a:endParaRPr lang="en-US" sz="120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2313C-3E49-7ED2-4A53-0812FA473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CA" sz="2800" dirty="0"/>
              <a:t>Classes &amp; Distribution Insight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17F561-5608-061B-F58E-8496AB9A5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dirty="0"/>
              <a:t>Dataset is highly imbalanced  </a:t>
            </a:r>
          </a:p>
          <a:p>
            <a:pPr marL="0" indent="0">
              <a:buNone/>
            </a:pPr>
            <a:r>
              <a:rPr lang="en-US" sz="1700" dirty="0"/>
              <a:t>Imbalance impact:</a:t>
            </a:r>
          </a:p>
          <a:p>
            <a:r>
              <a:rPr lang="en-US" sz="1700" dirty="0"/>
              <a:t> Model may bias toward majority class  </a:t>
            </a:r>
          </a:p>
          <a:p>
            <a:r>
              <a:rPr lang="en-US" sz="1700" dirty="0"/>
              <a:t>Accuracy alone can be misleading  </a:t>
            </a:r>
          </a:p>
          <a:p>
            <a:pPr marL="0" indent="0">
              <a:buNone/>
            </a:pPr>
            <a:r>
              <a:rPr lang="en-US" sz="1700" dirty="0"/>
              <a:t>Mitigation approach:</a:t>
            </a:r>
          </a:p>
          <a:p>
            <a:r>
              <a:rPr lang="en-US" sz="1700" dirty="0"/>
              <a:t>Used Stratified Train-Test Split  </a:t>
            </a:r>
          </a:p>
          <a:p>
            <a:r>
              <a:rPr lang="en-US" sz="1700" dirty="0"/>
              <a:t>Applied Cross-Validation for stability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37C8C5-1318-2D71-6F76-C87FA6FEB1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1" t="989" r="1512" b="934"/>
          <a:stretch>
            <a:fillRect/>
          </a:stretch>
        </p:blipFill>
        <p:spPr>
          <a:xfrm>
            <a:off x="4985886" y="935455"/>
            <a:ext cx="6718434" cy="498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9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8B00D-EE5A-9196-65BD-6DF139B8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124F53-B9AD-F2C0-8B08-95328B03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 dirty="0"/>
              <a:t>Feature Engineering</a:t>
            </a:r>
            <a:endParaRPr lang="en-CA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8AA9BC-F3C0-88CE-57B4-2618181D5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644877"/>
            <a:ext cx="3797783" cy="388511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200" dirty="0"/>
              <a:t>Features are strongly correlated with attack behavior </a:t>
            </a:r>
          </a:p>
          <a:p>
            <a:pPr marL="0" indent="0">
              <a:buNone/>
            </a:pPr>
            <a:r>
              <a:rPr lang="en-US" sz="1200" dirty="0"/>
              <a:t>Key insights: </a:t>
            </a:r>
          </a:p>
          <a:p>
            <a:r>
              <a:rPr lang="en-US" sz="1200" dirty="0"/>
              <a:t>Time-based features dominate (IAT, Idle metrics) </a:t>
            </a:r>
          </a:p>
          <a:p>
            <a:r>
              <a:rPr lang="en-US" sz="1200" dirty="0"/>
              <a:t>Packet length and flow size are critical indicators </a:t>
            </a:r>
          </a:p>
          <a:p>
            <a:pPr marL="0" indent="0">
              <a:buNone/>
            </a:pPr>
            <a:r>
              <a:rPr lang="en-US" sz="1200" dirty="0"/>
              <a:t>Interpretation: </a:t>
            </a:r>
          </a:p>
          <a:p>
            <a:r>
              <a:rPr lang="en-US" sz="1200" dirty="0"/>
              <a:t>Attacks create abnormal traffic timing patterns</a:t>
            </a:r>
          </a:p>
          <a:p>
            <a:r>
              <a:rPr lang="en-US" sz="1200" dirty="0"/>
              <a:t> Sudden spikes or irregular intervals signal anomalies </a:t>
            </a:r>
          </a:p>
          <a:p>
            <a:pPr marL="0" indent="0">
              <a:buNone/>
            </a:pPr>
            <a:r>
              <a:rPr lang="en-US" sz="1200" dirty="0"/>
              <a:t>Why this matters: </a:t>
            </a:r>
          </a:p>
          <a:p>
            <a:pPr marL="0" indent="0">
              <a:buNone/>
            </a:pPr>
            <a:r>
              <a:rPr lang="en-US" sz="1200" dirty="0"/>
              <a:t>Model learns behavioral patterns, not just raw values Improves detection of DoS-style attacks </a:t>
            </a:r>
          </a:p>
          <a:p>
            <a:pPr marL="0" indent="0">
              <a:buNone/>
            </a:pPr>
            <a:r>
              <a:rPr lang="en-US" sz="1200" dirty="0"/>
              <a:t>Feature engineering impact: </a:t>
            </a:r>
          </a:p>
          <a:p>
            <a:r>
              <a:rPr lang="en-US" sz="1200" dirty="0"/>
              <a:t>Added Total Packets </a:t>
            </a:r>
          </a:p>
          <a:p>
            <a:r>
              <a:rPr lang="en-US" sz="1200" dirty="0"/>
              <a:t>Added Packets per Second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288ED3-A704-3E43-0C28-EB6325F24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900844"/>
            <a:ext cx="6922008" cy="515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91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012" y="361553"/>
            <a:ext cx="884138" cy="213320"/>
          </a:xfrm>
          <a:prstGeom prst="roundRect">
            <a:avLst>
              <a:gd name="adj" fmla="val 6978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3" name="Text 1"/>
          <p:cNvSpPr/>
          <p:nvPr/>
        </p:nvSpPr>
        <p:spPr>
          <a:xfrm>
            <a:off x="1279426" y="398760"/>
            <a:ext cx="735310" cy="138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83"/>
              </a:lnSpc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205012" y="612081"/>
            <a:ext cx="6177458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67"/>
              </a:lnSpc>
            </a:pPr>
            <a:r>
              <a:rPr lang="en-US" sz="2542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 Pipeline - From Raw Data to Prediction</a:t>
            </a:r>
            <a:endParaRPr lang="en-US" sz="2542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12" y="1158578"/>
            <a:ext cx="9781878" cy="42252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39217" y="3814676"/>
            <a:ext cx="1452435" cy="55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67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Engineering</a:t>
            </a:r>
            <a:endParaRPr lang="en-US" sz="1708" dirty="0"/>
          </a:p>
        </p:txBody>
      </p:sp>
      <p:sp>
        <p:nvSpPr>
          <p:cNvPr id="7" name="Text 4"/>
          <p:cNvSpPr/>
          <p:nvPr/>
        </p:nvSpPr>
        <p:spPr>
          <a:xfrm>
            <a:off x="3539217" y="4445441"/>
            <a:ext cx="1452435" cy="55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17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packets, packets/sec, label encoding</a:t>
            </a:r>
            <a:endParaRPr lang="en-US" sz="1292" dirty="0"/>
          </a:p>
        </p:txBody>
      </p:sp>
      <p:sp>
        <p:nvSpPr>
          <p:cNvPr id="8" name="Text 5"/>
          <p:cNvSpPr/>
          <p:nvPr/>
        </p:nvSpPr>
        <p:spPr>
          <a:xfrm>
            <a:off x="7268697" y="3814676"/>
            <a:ext cx="1452435" cy="55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67"/>
              </a:lnSpc>
            </a:pPr>
            <a:r>
              <a:rPr lang="en-US" sz="1708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Training</a:t>
            </a:r>
            <a:endParaRPr lang="en-US" sz="1708" dirty="0"/>
          </a:p>
        </p:txBody>
      </p:sp>
      <p:sp>
        <p:nvSpPr>
          <p:cNvPr id="9" name="Text 6"/>
          <p:cNvSpPr/>
          <p:nvPr/>
        </p:nvSpPr>
        <p:spPr>
          <a:xfrm>
            <a:off x="7268697" y="4445441"/>
            <a:ext cx="1452435" cy="55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17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Logistic, Random Forest, XGBoost with CV</a:t>
            </a:r>
            <a:endParaRPr lang="en-US" sz="1292" dirty="0"/>
          </a:p>
        </p:txBody>
      </p:sp>
      <p:sp>
        <p:nvSpPr>
          <p:cNvPr id="10" name="Text 7"/>
          <p:cNvSpPr/>
          <p:nvPr/>
        </p:nvSpPr>
        <p:spPr>
          <a:xfrm>
            <a:off x="1679106" y="1539835"/>
            <a:ext cx="1452435" cy="277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67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Cleaning</a:t>
            </a:r>
            <a:endParaRPr lang="en-US" sz="1708" dirty="0"/>
          </a:p>
        </p:txBody>
      </p:sp>
      <p:sp>
        <p:nvSpPr>
          <p:cNvPr id="11" name="Text 8"/>
          <p:cNvSpPr/>
          <p:nvPr/>
        </p:nvSpPr>
        <p:spPr>
          <a:xfrm>
            <a:off x="1679106" y="1892840"/>
            <a:ext cx="1452435" cy="55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17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 nulls, duplicates, infinities</a:t>
            </a:r>
            <a:endParaRPr lang="en-US" sz="1292" dirty="0"/>
          </a:p>
        </p:txBody>
      </p:sp>
      <p:sp>
        <p:nvSpPr>
          <p:cNvPr id="12" name="Text 9"/>
          <p:cNvSpPr/>
          <p:nvPr/>
        </p:nvSpPr>
        <p:spPr>
          <a:xfrm>
            <a:off x="9073402" y="1539835"/>
            <a:ext cx="1452435" cy="277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67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Validation</a:t>
            </a:r>
            <a:endParaRPr lang="en-US" sz="1708" dirty="0"/>
          </a:p>
        </p:txBody>
      </p:sp>
      <p:sp>
        <p:nvSpPr>
          <p:cNvPr id="13" name="Text 10"/>
          <p:cNvSpPr/>
          <p:nvPr/>
        </p:nvSpPr>
        <p:spPr>
          <a:xfrm>
            <a:off x="9073402" y="1892840"/>
            <a:ext cx="1452435" cy="370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17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CV accuracy, test accuracy, stability</a:t>
            </a:r>
            <a:endParaRPr lang="en-US" sz="1292" dirty="0"/>
          </a:p>
        </p:txBody>
      </p:sp>
      <p:sp>
        <p:nvSpPr>
          <p:cNvPr id="14" name="Text 11"/>
          <p:cNvSpPr/>
          <p:nvPr/>
        </p:nvSpPr>
        <p:spPr>
          <a:xfrm>
            <a:off x="5427103" y="1539835"/>
            <a:ext cx="1452435" cy="277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67"/>
              </a:lnSpc>
            </a:pPr>
            <a:r>
              <a:rPr lang="en-US" sz="1708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Scaling</a:t>
            </a:r>
            <a:endParaRPr lang="en-US" sz="1708" dirty="0"/>
          </a:p>
        </p:txBody>
      </p:sp>
      <p:sp>
        <p:nvSpPr>
          <p:cNvPr id="15" name="Text 12"/>
          <p:cNvSpPr/>
          <p:nvPr/>
        </p:nvSpPr>
        <p:spPr>
          <a:xfrm>
            <a:off x="5427103" y="1892840"/>
            <a:ext cx="1452435" cy="370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17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StandardScaler normalization</a:t>
            </a:r>
            <a:endParaRPr lang="en-US" sz="1292" dirty="0"/>
          </a:p>
        </p:txBody>
      </p:sp>
      <p:sp>
        <p:nvSpPr>
          <p:cNvPr id="16" name="Text 13"/>
          <p:cNvSpPr/>
          <p:nvPr/>
        </p:nvSpPr>
        <p:spPr>
          <a:xfrm>
            <a:off x="1205012" y="5581353"/>
            <a:ext cx="1876326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Preprocessing Techniques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205012" y="5877819"/>
            <a:ext cx="4739581" cy="58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333"/>
              </a:lnSpc>
              <a:buSzPct val="100000"/>
              <a:buChar char="•"/>
            </a:pPr>
            <a:r>
              <a:rPr lang="en-US" sz="958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 Encoding</a:t>
            </a:r>
            <a:r>
              <a:rPr lang="en-US" sz="95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 converts categorical attack classes to numeric targets</a:t>
            </a:r>
            <a:endParaRPr lang="en-US" sz="958" dirty="0"/>
          </a:p>
          <a:p>
            <a:pPr marL="285739" indent="-285739">
              <a:lnSpc>
                <a:spcPts val="1333"/>
              </a:lnSpc>
              <a:buSzPct val="100000"/>
              <a:buChar char="•"/>
            </a:pPr>
            <a:r>
              <a:rPr lang="en-US" sz="958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StandardScaler</a:t>
            </a:r>
            <a:r>
              <a:rPr lang="en-US" sz="95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 zero mean, unit variance normalization</a:t>
            </a:r>
            <a:endParaRPr lang="en-US" sz="958" dirty="0"/>
          </a:p>
          <a:p>
            <a:pPr marL="285739" indent="-285739">
              <a:lnSpc>
                <a:spcPts val="1333"/>
              </a:lnSpc>
              <a:buSzPct val="100000"/>
              <a:buChar char="•"/>
            </a:pPr>
            <a:r>
              <a:rPr lang="en-US" sz="95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Removed infinite values and null records before scaling</a:t>
            </a:r>
            <a:endParaRPr lang="en-US" sz="958" dirty="0"/>
          </a:p>
        </p:txBody>
      </p:sp>
      <p:sp>
        <p:nvSpPr>
          <p:cNvPr id="18" name="Text 15"/>
          <p:cNvSpPr/>
          <p:nvPr/>
        </p:nvSpPr>
        <p:spPr>
          <a:xfrm>
            <a:off x="6253560" y="5581353"/>
            <a:ext cx="1628081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Validation Strategy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253560" y="5877819"/>
            <a:ext cx="4739581" cy="58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333"/>
              </a:lnSpc>
              <a:buSzPct val="100000"/>
              <a:buChar char="•"/>
            </a:pPr>
            <a:r>
              <a:rPr lang="en-US" sz="95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Stratified </a:t>
            </a:r>
            <a:r>
              <a:rPr lang="en-US" sz="958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5-fold cross-validation</a:t>
            </a:r>
            <a:r>
              <a:rPr lang="en-US" sz="95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all models</a:t>
            </a:r>
            <a:endParaRPr lang="en-US" sz="958" dirty="0"/>
          </a:p>
          <a:p>
            <a:pPr marL="285739" indent="-285739">
              <a:lnSpc>
                <a:spcPts val="1333"/>
              </a:lnSpc>
              <a:buSzPct val="100000"/>
              <a:buChar char="•"/>
            </a:pPr>
            <a:r>
              <a:rPr lang="en-US" sz="95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Held-out test set for final generalization check</a:t>
            </a:r>
            <a:endParaRPr lang="en-US" sz="958" dirty="0"/>
          </a:p>
          <a:p>
            <a:pPr marL="285739" indent="-285739">
              <a:lnSpc>
                <a:spcPts val="1333"/>
              </a:lnSpc>
              <a:buSzPct val="100000"/>
              <a:buChar char="•"/>
            </a:pPr>
            <a:r>
              <a:rPr lang="en-US" sz="95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Compared CV mean, CV std, and test accuracy together</a:t>
            </a:r>
            <a:endParaRPr lang="en-US" sz="95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C676D-FA16-A387-CE2F-49179F9FE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AB974F-3207-72D2-BAA2-05E62A87D6A1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ML detects attack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RAG generates explanation using Chroma DB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578249-8F16-208C-17DE-304CED67E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84" y="1169072"/>
            <a:ext cx="6922008" cy="4620440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66FF3945-0982-21B8-EA11-D4BC6F252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898" y="1161288"/>
            <a:ext cx="6922008" cy="46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6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794087-D1B5-2DF3-A4F4-0AFCD1177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Intelligence Layer - Chroma DB Knowledge Base</a:t>
            </a:r>
            <a:endParaRPr lang="en-US" sz="2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DBA27-B78A-4251-D566-65EEF91E0BBA}"/>
              </a:ext>
            </a:extLst>
          </p:cNvPr>
          <p:cNvSpPr txBox="1"/>
          <p:nvPr/>
        </p:nvSpPr>
        <p:spPr>
          <a:xfrm>
            <a:off x="841248" y="2252870"/>
            <a:ext cx="3412219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Purpose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Stores cybersecurity knowledge (attack descriptions, mitigation)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Technology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Chroma DB (Vector Database)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Uses embeddings for semantic search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Input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Predicted attack label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User query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Output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Attack explanation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Troubleshooting guidance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E46101-B324-5729-E5BE-C8BC6F43B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0" y="1156990"/>
            <a:ext cx="6656832" cy="444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26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C67D-8F31-2146-6ED1-51123DFA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92553" cy="858557"/>
          </a:xfrm>
        </p:spPr>
        <p:txBody>
          <a:bodyPr>
            <a:noAutofit/>
          </a:bodyPr>
          <a:lstStyle/>
          <a:p>
            <a:r>
              <a:rPr lang="en-US" sz="3200" dirty="0"/>
              <a:t>System Sequence Diagram – Network Sentinel (RAG-based Intrusion Detection)</a:t>
            </a:r>
            <a:endParaRPr lang="en-CA" sz="32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82BEA17-B4C6-F0B9-A015-EC0A1D25F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46" y="2141537"/>
            <a:ext cx="10483131" cy="43513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FE02A5-86ED-C605-DBB7-2AD4DA0696E3}"/>
              </a:ext>
            </a:extLst>
          </p:cNvPr>
          <p:cNvSpPr txBox="1"/>
          <p:nvPr/>
        </p:nvSpPr>
        <p:spPr>
          <a:xfrm>
            <a:off x="264253" y="1497943"/>
            <a:ext cx="11484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Illustrates interaction between UI, ML model, RAG agent, and vector database for attack detection and explanation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5855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FAEE7-07CE-857E-3F74-FD55EDEF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Workflow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FBC5EC4-1DC4-53B2-55E3-E7A5F4CD7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14" y="960121"/>
            <a:ext cx="10872172" cy="2446237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59FFBE-1032-9C56-A788-C4AE7E5C1699}"/>
              </a:ext>
            </a:extLst>
          </p:cNvPr>
          <p:cNvSpPr txBox="1"/>
          <p:nvPr/>
        </p:nvSpPr>
        <p:spPr>
          <a:xfrm>
            <a:off x="4970835" y="3998019"/>
            <a:ext cx="6382966" cy="221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Key Components: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ML Model - Attack Detection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RAG Agent - Contextual reasoning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Chroma DB - Knowledge storage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Streamlit -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3914876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17" y="394990"/>
            <a:ext cx="1304032" cy="224632"/>
          </a:xfrm>
          <a:prstGeom prst="roundRect">
            <a:avLst>
              <a:gd name="adj" fmla="val 6903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3" name="Text 1"/>
          <p:cNvSpPr/>
          <p:nvPr/>
        </p:nvSpPr>
        <p:spPr>
          <a:xfrm>
            <a:off x="1078707" y="433685"/>
            <a:ext cx="1149053" cy="14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7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BASE STRUCTURE</a:t>
            </a:r>
            <a:endParaRPr lang="en-US" sz="792" dirty="0"/>
          </a:p>
        </p:txBody>
      </p:sp>
      <p:sp>
        <p:nvSpPr>
          <p:cNvPr id="4" name="Text 2"/>
          <p:cNvSpPr/>
          <p:nvPr/>
        </p:nvSpPr>
        <p:spPr>
          <a:xfrm>
            <a:off x="1001217" y="659904"/>
            <a:ext cx="3391893" cy="42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667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Modular &amp; Scalable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1001217" y="1235273"/>
            <a:ext cx="10189468" cy="5227737"/>
          </a:xfrm>
          <a:prstGeom prst="roundRect">
            <a:avLst>
              <a:gd name="adj" fmla="val 37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6" name="Shape 4"/>
          <p:cNvSpPr/>
          <p:nvPr/>
        </p:nvSpPr>
        <p:spPr>
          <a:xfrm>
            <a:off x="994767" y="1235273"/>
            <a:ext cx="10202367" cy="5227737"/>
          </a:xfrm>
          <a:prstGeom prst="roundRect">
            <a:avLst>
              <a:gd name="adj" fmla="val 37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7" name="Text 5"/>
          <p:cNvSpPr/>
          <p:nvPr/>
        </p:nvSpPr>
        <p:spPr>
          <a:xfrm>
            <a:off x="1156196" y="1364457"/>
            <a:ext cx="9879508" cy="4969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Network-Sentinel/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│── app.py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│── data/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raw/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processed/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│── models/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model.pkl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scaler.pkl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label_encoder.pkl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feature_columns.pkl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│── rag/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knowledge_base.py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retriever.py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│── src/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data/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loader.py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preprocessing.py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models/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train.py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predict.py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agent/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incident_agent.py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llm_agent.py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utils/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logger.py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│── logs/</a:t>
            </a:r>
            <a:endParaRPr lang="en-US" sz="1000" dirty="0"/>
          </a:p>
          <a:p>
            <a:pPr>
              <a:lnSpc>
                <a:spcPts val="1417"/>
              </a:lnSpc>
            </a:pPr>
            <a:r>
              <a:rPr lang="en-US" sz="100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│── README.md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9161" y="457795"/>
            <a:ext cx="2135584" cy="266502"/>
          </a:xfrm>
          <a:prstGeom prst="roundRect">
            <a:avLst>
              <a:gd name="adj" fmla="val 6633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3" name="Text 1"/>
          <p:cNvSpPr/>
          <p:nvPr/>
        </p:nvSpPr>
        <p:spPr>
          <a:xfrm>
            <a:off x="677466" y="501947"/>
            <a:ext cx="1958975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91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WORKFLOW &amp; INTELLIGENCE LAYER</a:t>
            </a:r>
            <a:endParaRPr lang="en-US" sz="917" dirty="0"/>
          </a:p>
        </p:txBody>
      </p:sp>
      <p:sp>
        <p:nvSpPr>
          <p:cNvPr id="4" name="Text 2"/>
          <p:cNvSpPr/>
          <p:nvPr/>
        </p:nvSpPr>
        <p:spPr>
          <a:xfrm>
            <a:off x="589161" y="776685"/>
            <a:ext cx="5916315" cy="483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92"/>
              </a:lnSpc>
            </a:pPr>
            <a:r>
              <a:rPr lang="en-US" sz="3042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From Upload to Intelligent Output</a:t>
            </a:r>
            <a:endParaRPr lang="en-US" sz="3042" dirty="0"/>
          </a:p>
        </p:txBody>
      </p:sp>
      <p:sp>
        <p:nvSpPr>
          <p:cNvPr id="5" name="Shape 3"/>
          <p:cNvSpPr/>
          <p:nvPr/>
        </p:nvSpPr>
        <p:spPr>
          <a:xfrm>
            <a:off x="589161" y="1456730"/>
            <a:ext cx="589161" cy="883742"/>
          </a:xfrm>
          <a:prstGeom prst="roundRect">
            <a:avLst>
              <a:gd name="adj" fmla="val 3600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CA" sz="15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311" y="1788120"/>
            <a:ext cx="220861" cy="2208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9489" y="1603970"/>
            <a:ext cx="193337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Upload CSV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09489" y="1924348"/>
            <a:ext cx="1029335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125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Analyst uploads raw network traffic file via the Streamlit interface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589161" y="2471638"/>
            <a:ext cx="589161" cy="883742"/>
          </a:xfrm>
          <a:prstGeom prst="roundRect">
            <a:avLst>
              <a:gd name="adj" fmla="val 3600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CA" sz="15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3311" y="2803030"/>
            <a:ext cx="220861" cy="2208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09489" y="2618879"/>
            <a:ext cx="193337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 Attack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09489" y="2939257"/>
            <a:ext cx="1029335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125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XGBoost classifies each row — attack type, confidence score, and severity level</a:t>
            </a:r>
            <a:endParaRPr lang="en-US" sz="1125" dirty="0"/>
          </a:p>
        </p:txBody>
      </p:sp>
      <p:sp>
        <p:nvSpPr>
          <p:cNvPr id="13" name="Shape 9"/>
          <p:cNvSpPr/>
          <p:nvPr/>
        </p:nvSpPr>
        <p:spPr>
          <a:xfrm>
            <a:off x="589161" y="3486547"/>
            <a:ext cx="589161" cy="883742"/>
          </a:xfrm>
          <a:prstGeom prst="roundRect">
            <a:avLst>
              <a:gd name="adj" fmla="val 3600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CA" sz="15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3311" y="3817938"/>
            <a:ext cx="220861" cy="2208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09489" y="3633787"/>
            <a:ext cx="193337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Retrieve Context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09489" y="3954165"/>
            <a:ext cx="1029335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125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ChromaDB performs semantic search to pull relevant threat documentation</a:t>
            </a:r>
            <a:endParaRPr lang="en-US" sz="1125" dirty="0"/>
          </a:p>
        </p:txBody>
      </p:sp>
      <p:sp>
        <p:nvSpPr>
          <p:cNvPr id="17" name="Shape 12"/>
          <p:cNvSpPr/>
          <p:nvPr/>
        </p:nvSpPr>
        <p:spPr>
          <a:xfrm>
            <a:off x="589161" y="4501456"/>
            <a:ext cx="589161" cy="883742"/>
          </a:xfrm>
          <a:prstGeom prst="roundRect">
            <a:avLst>
              <a:gd name="adj" fmla="val 3600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CA" sz="150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311" y="4832846"/>
            <a:ext cx="220861" cy="2208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09489" y="4648696"/>
            <a:ext cx="193337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Generate Explanation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309489" y="4969073"/>
            <a:ext cx="1029335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125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synthesizes prediction + retrieved context into a plain-language incident summary</a:t>
            </a:r>
            <a:endParaRPr lang="en-US" sz="1125" dirty="0"/>
          </a:p>
        </p:txBody>
      </p:sp>
      <p:sp>
        <p:nvSpPr>
          <p:cNvPr id="21" name="Shape 15"/>
          <p:cNvSpPr/>
          <p:nvPr/>
        </p:nvSpPr>
        <p:spPr>
          <a:xfrm>
            <a:off x="589161" y="5516364"/>
            <a:ext cx="589161" cy="883742"/>
          </a:xfrm>
          <a:prstGeom prst="roundRect">
            <a:avLst>
              <a:gd name="adj" fmla="val 3600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CA" sz="150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3311" y="5847755"/>
            <a:ext cx="220861" cy="22086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09489" y="5663605"/>
            <a:ext cx="193337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Display Results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1309489" y="5983982"/>
            <a:ext cx="1029335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125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surfaces attack details, explanation, and prioritized mitigation steps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D125E-232B-622D-B57B-2CFFE8C1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 Interface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38E749-30B7-E603-FE3A-E123302D1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4718" y="1966293"/>
            <a:ext cx="942256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889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029593"/>
            <a:ext cx="1719064" cy="310952"/>
          </a:xfrm>
          <a:prstGeom prst="roundRect">
            <a:avLst>
              <a:gd name="adj" fmla="val 6383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3" name="Text 1"/>
          <p:cNvSpPr/>
          <p:nvPr/>
        </p:nvSpPr>
        <p:spPr>
          <a:xfrm>
            <a:off x="760710" y="1079203"/>
            <a:ext cx="152062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RESULTS &amp; KEY INSIGHTS</a:t>
            </a:r>
            <a:endParaRPr lang="en-US" sz="1042" dirty="0"/>
          </a:p>
        </p:txBody>
      </p:sp>
      <p:sp>
        <p:nvSpPr>
          <p:cNvPr id="4" name="Text 2"/>
          <p:cNvSpPr/>
          <p:nvPr/>
        </p:nvSpPr>
        <p:spPr>
          <a:xfrm>
            <a:off x="661492" y="1406624"/>
            <a:ext cx="576768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50"/>
              </a:lnSpc>
            </a:pPr>
            <a:r>
              <a:rPr lang="en-US" sz="3417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Performance That Earns Trust</a:t>
            </a:r>
            <a:endParaRPr lang="en-US" sz="3417" dirty="0"/>
          </a:p>
        </p:txBody>
      </p:sp>
      <p:sp>
        <p:nvSpPr>
          <p:cNvPr id="5" name="Text 3"/>
          <p:cNvSpPr/>
          <p:nvPr/>
        </p:nvSpPr>
        <p:spPr>
          <a:xfrm>
            <a:off x="661492" y="2280047"/>
            <a:ext cx="3485158" cy="545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291"/>
              </a:lnSpc>
            </a:pPr>
            <a:r>
              <a:rPr lang="en-US" sz="429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99.97%</a:t>
            </a:r>
            <a:endParaRPr lang="en-US" sz="4291" dirty="0"/>
          </a:p>
        </p:txBody>
      </p:sp>
      <p:sp>
        <p:nvSpPr>
          <p:cNvPr id="6" name="Text 4"/>
          <p:cNvSpPr/>
          <p:nvPr/>
        </p:nvSpPr>
        <p:spPr>
          <a:xfrm>
            <a:off x="1318617" y="3032522"/>
            <a:ext cx="217080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Test Accuracy</a:t>
            </a:r>
            <a:endParaRPr lang="en-US" sz="1708" dirty="0"/>
          </a:p>
        </p:txBody>
      </p:sp>
      <p:sp>
        <p:nvSpPr>
          <p:cNvPr id="7" name="Text 5"/>
          <p:cNvSpPr/>
          <p:nvPr/>
        </p:nvSpPr>
        <p:spPr>
          <a:xfrm>
            <a:off x="661492" y="3403104"/>
            <a:ext cx="348515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XGBoost on held-out CICIDS data</a:t>
            </a:r>
            <a:endParaRPr lang="en-US" sz="1292" dirty="0"/>
          </a:p>
        </p:txBody>
      </p:sp>
      <p:sp>
        <p:nvSpPr>
          <p:cNvPr id="8" name="Text 6"/>
          <p:cNvSpPr/>
          <p:nvPr/>
        </p:nvSpPr>
        <p:spPr>
          <a:xfrm>
            <a:off x="4353322" y="2280047"/>
            <a:ext cx="3485257" cy="545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291"/>
              </a:lnSpc>
            </a:pPr>
            <a:r>
              <a:rPr lang="en-US" sz="429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0.9965</a:t>
            </a:r>
            <a:endParaRPr lang="en-US" sz="4291" dirty="0"/>
          </a:p>
        </p:txBody>
      </p:sp>
      <p:sp>
        <p:nvSpPr>
          <p:cNvPr id="9" name="Text 7"/>
          <p:cNvSpPr/>
          <p:nvPr/>
        </p:nvSpPr>
        <p:spPr>
          <a:xfrm>
            <a:off x="5010547" y="3032522"/>
            <a:ext cx="217080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CV Mean Score</a:t>
            </a:r>
            <a:endParaRPr lang="en-US" sz="1708" dirty="0"/>
          </a:p>
        </p:txBody>
      </p:sp>
      <p:sp>
        <p:nvSpPr>
          <p:cNvPr id="10" name="Text 8"/>
          <p:cNvSpPr/>
          <p:nvPr/>
        </p:nvSpPr>
        <p:spPr>
          <a:xfrm>
            <a:off x="4353322" y="3403104"/>
            <a:ext cx="3485257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Averaged across 5 stratified folds</a:t>
            </a:r>
            <a:endParaRPr lang="en-US" sz="1292" dirty="0"/>
          </a:p>
        </p:txBody>
      </p:sp>
      <p:sp>
        <p:nvSpPr>
          <p:cNvPr id="11" name="Text 9"/>
          <p:cNvSpPr/>
          <p:nvPr/>
        </p:nvSpPr>
        <p:spPr>
          <a:xfrm>
            <a:off x="8045252" y="2280047"/>
            <a:ext cx="3485257" cy="545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291"/>
              </a:lnSpc>
            </a:pPr>
            <a:r>
              <a:rPr lang="en-US" sz="429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0.0019</a:t>
            </a:r>
            <a:endParaRPr lang="en-US" sz="4291" dirty="0"/>
          </a:p>
        </p:txBody>
      </p:sp>
      <p:sp>
        <p:nvSpPr>
          <p:cNvPr id="12" name="Text 10"/>
          <p:cNvSpPr/>
          <p:nvPr/>
        </p:nvSpPr>
        <p:spPr>
          <a:xfrm>
            <a:off x="8702477" y="3032522"/>
            <a:ext cx="217080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CV Std Deviation</a:t>
            </a:r>
            <a:endParaRPr lang="en-US" sz="1708" dirty="0"/>
          </a:p>
        </p:txBody>
      </p:sp>
      <p:sp>
        <p:nvSpPr>
          <p:cNvPr id="13" name="Text 11"/>
          <p:cNvSpPr/>
          <p:nvPr/>
        </p:nvSpPr>
        <p:spPr>
          <a:xfrm>
            <a:off x="8045252" y="3403104"/>
            <a:ext cx="3485257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Near-zero variance, highly stable</a:t>
            </a:r>
            <a:endParaRPr lang="en-US" sz="1292" dirty="0"/>
          </a:p>
        </p:txBody>
      </p:sp>
      <p:sp>
        <p:nvSpPr>
          <p:cNvPr id="14" name="Shape 12"/>
          <p:cNvSpPr/>
          <p:nvPr/>
        </p:nvSpPr>
        <p:spPr>
          <a:xfrm>
            <a:off x="661492" y="3895031"/>
            <a:ext cx="10869018" cy="12403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  <p:txBody>
          <a:bodyPr/>
          <a:lstStyle/>
          <a:p>
            <a:endParaRPr lang="en-CA" sz="150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503" y="4139803"/>
            <a:ext cx="248047" cy="24804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98860" y="4134744"/>
            <a:ext cx="2844998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Tree-Based Models Dominate</a:t>
            </a:r>
            <a:endParaRPr lang="en-US" sz="1708" dirty="0"/>
          </a:p>
        </p:txBody>
      </p:sp>
      <p:sp>
        <p:nvSpPr>
          <p:cNvPr id="17" name="Text 14"/>
          <p:cNvSpPr/>
          <p:nvPr/>
        </p:nvSpPr>
        <p:spPr>
          <a:xfrm>
            <a:off x="1198861" y="4505325"/>
            <a:ext cx="2947789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Non-linear architectures (RF, XGBoost) dramatically outperform Logistic Regression on complex, high-dimensional network traffic data.</a:t>
            </a:r>
            <a:endParaRPr lang="en-US" sz="1292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5333" y="4139803"/>
            <a:ext cx="248047" cy="2480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90691" y="4134744"/>
            <a:ext cx="218301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RAG Elevates Usability</a:t>
            </a:r>
            <a:endParaRPr lang="en-US" sz="1708" dirty="0"/>
          </a:p>
        </p:txBody>
      </p:sp>
      <p:sp>
        <p:nvSpPr>
          <p:cNvPr id="20" name="Text 16"/>
          <p:cNvSpPr/>
          <p:nvPr/>
        </p:nvSpPr>
        <p:spPr>
          <a:xfrm>
            <a:off x="4890691" y="4505325"/>
            <a:ext cx="294788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Contextual retrieval transforms raw predictions into analyst-ready intelligence — reducing time-to-action without requiring expert interpretation.</a:t>
            </a:r>
            <a:endParaRPr lang="en-US" sz="1292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7263" y="4139803"/>
            <a:ext cx="248047" cy="2480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82620" y="4134744"/>
            <a:ext cx="2177356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Modular Design Scales</a:t>
            </a:r>
            <a:endParaRPr lang="en-US" sz="1708" dirty="0"/>
          </a:p>
        </p:txBody>
      </p:sp>
      <p:sp>
        <p:nvSpPr>
          <p:cNvPr id="23" name="Text 18"/>
          <p:cNvSpPr/>
          <p:nvPr/>
        </p:nvSpPr>
        <p:spPr>
          <a:xfrm>
            <a:off x="8582620" y="4505325"/>
            <a:ext cx="294788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system layer (ML, RAG, LLM) can be independently upgraded — enabling integration of new models or knowledge bases without full system rework.</a:t>
            </a:r>
            <a:endParaRPr lang="en-US" sz="129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911324"/>
            <a:ext cx="2015033" cy="310952"/>
          </a:xfrm>
          <a:prstGeom prst="roundRect">
            <a:avLst>
              <a:gd name="adj" fmla="val 6383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3" name="Text 1"/>
          <p:cNvSpPr/>
          <p:nvPr/>
        </p:nvSpPr>
        <p:spPr>
          <a:xfrm>
            <a:off x="760710" y="960934"/>
            <a:ext cx="1816596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LIMITATIONS &amp; FUTURE WORK</a:t>
            </a:r>
            <a:endParaRPr lang="en-US" sz="1042" dirty="0"/>
          </a:p>
        </p:txBody>
      </p:sp>
      <p:sp>
        <p:nvSpPr>
          <p:cNvPr id="4" name="Text 2"/>
          <p:cNvSpPr/>
          <p:nvPr/>
        </p:nvSpPr>
        <p:spPr>
          <a:xfrm>
            <a:off x="661492" y="1573609"/>
            <a:ext cx="217080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Current Limitations</a:t>
            </a:r>
            <a:endParaRPr lang="en-US" sz="1708" dirty="0"/>
          </a:p>
        </p:txBody>
      </p:sp>
      <p:sp>
        <p:nvSpPr>
          <p:cNvPr id="5" name="Text 3"/>
          <p:cNvSpPr/>
          <p:nvPr/>
        </p:nvSpPr>
        <p:spPr>
          <a:xfrm>
            <a:off x="661492" y="2010271"/>
            <a:ext cx="5007273" cy="229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92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Limited knowledge base</a:t>
            </a: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 RAG retrieval constrained by curated threat documents only</a:t>
            </a:r>
            <a:endParaRPr lang="en-US" sz="1292" dirty="0"/>
          </a:p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92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full distribution analysis</a:t>
            </a: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 class imbalance effects not fully characterized</a:t>
            </a:r>
            <a:endParaRPr lang="en-US" sz="1292" dirty="0"/>
          </a:p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92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Accuracy-focused evaluation</a:t>
            </a: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 F1-score, precision, and recall not yet reported</a:t>
            </a:r>
            <a:endParaRPr lang="en-US" sz="1292" dirty="0"/>
          </a:p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92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Static pipeline</a:t>
            </a: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 no real-time streaming or live PCAP ingestion</a:t>
            </a:r>
            <a:endParaRPr lang="en-US" sz="1292" dirty="0"/>
          </a:p>
        </p:txBody>
      </p:sp>
      <p:sp>
        <p:nvSpPr>
          <p:cNvPr id="6" name="Text 4"/>
          <p:cNvSpPr/>
          <p:nvPr/>
        </p:nvSpPr>
        <p:spPr>
          <a:xfrm>
            <a:off x="6078537" y="1573609"/>
            <a:ext cx="217080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Future Improvements</a:t>
            </a:r>
            <a:endParaRPr lang="en-US" sz="1708" dirty="0"/>
          </a:p>
        </p:txBody>
      </p:sp>
      <p:sp>
        <p:nvSpPr>
          <p:cNvPr id="7" name="Shape 5"/>
          <p:cNvSpPr/>
          <p:nvPr/>
        </p:nvSpPr>
        <p:spPr>
          <a:xfrm>
            <a:off x="6078538" y="2031008"/>
            <a:ext cx="372070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8" name="Text 6"/>
          <p:cNvSpPr/>
          <p:nvPr/>
        </p:nvSpPr>
        <p:spPr>
          <a:xfrm>
            <a:off x="6134349" y="2054275"/>
            <a:ext cx="260449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42"/>
              </a:lnSpc>
            </a:pPr>
            <a:r>
              <a:rPr lang="en-US" sz="2042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042" dirty="0"/>
          </a:p>
        </p:txBody>
      </p:sp>
      <p:sp>
        <p:nvSpPr>
          <p:cNvPr id="9" name="Text 7"/>
          <p:cNvSpPr/>
          <p:nvPr/>
        </p:nvSpPr>
        <p:spPr>
          <a:xfrm>
            <a:off x="6615906" y="2087860"/>
            <a:ext cx="2828528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Confusion Matrix &amp; F1-Score</a:t>
            </a:r>
            <a:endParaRPr lang="en-US" sz="1708" dirty="0"/>
          </a:p>
        </p:txBody>
      </p:sp>
      <p:sp>
        <p:nvSpPr>
          <p:cNvPr id="10" name="Text 8"/>
          <p:cNvSpPr/>
          <p:nvPr/>
        </p:nvSpPr>
        <p:spPr>
          <a:xfrm>
            <a:off x="6615906" y="2524522"/>
            <a:ext cx="49208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per-class metrics to surface edge cases and minority-class detection quality</a:t>
            </a:r>
            <a:endParaRPr lang="en-US" sz="1292" dirty="0"/>
          </a:p>
        </p:txBody>
      </p:sp>
      <p:sp>
        <p:nvSpPr>
          <p:cNvPr id="11" name="Shape 9"/>
          <p:cNvSpPr/>
          <p:nvPr/>
        </p:nvSpPr>
        <p:spPr>
          <a:xfrm>
            <a:off x="6078538" y="3384451"/>
            <a:ext cx="372070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12" name="Text 10"/>
          <p:cNvSpPr/>
          <p:nvPr/>
        </p:nvSpPr>
        <p:spPr>
          <a:xfrm>
            <a:off x="6134349" y="3407717"/>
            <a:ext cx="260449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42"/>
              </a:lnSpc>
            </a:pPr>
            <a:r>
              <a:rPr lang="en-US" sz="2042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042" dirty="0"/>
          </a:p>
        </p:txBody>
      </p:sp>
      <p:sp>
        <p:nvSpPr>
          <p:cNvPr id="13" name="Text 11"/>
          <p:cNvSpPr/>
          <p:nvPr/>
        </p:nvSpPr>
        <p:spPr>
          <a:xfrm>
            <a:off x="6615906" y="3441304"/>
            <a:ext cx="230078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Analyst Query Interface</a:t>
            </a:r>
            <a:endParaRPr lang="en-US" sz="1708" dirty="0"/>
          </a:p>
        </p:txBody>
      </p:sp>
      <p:sp>
        <p:nvSpPr>
          <p:cNvPr id="14" name="Text 12"/>
          <p:cNvSpPr/>
          <p:nvPr/>
        </p:nvSpPr>
        <p:spPr>
          <a:xfrm>
            <a:off x="6615906" y="3877965"/>
            <a:ext cx="49208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Allow analysts to ask natural language questions about detected incidents</a:t>
            </a:r>
            <a:endParaRPr lang="en-US" sz="1292" dirty="0"/>
          </a:p>
        </p:txBody>
      </p:sp>
      <p:sp>
        <p:nvSpPr>
          <p:cNvPr id="15" name="Shape 13"/>
          <p:cNvSpPr/>
          <p:nvPr/>
        </p:nvSpPr>
        <p:spPr>
          <a:xfrm>
            <a:off x="6078538" y="4737894"/>
            <a:ext cx="372070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CA" sz="1500"/>
          </a:p>
        </p:txBody>
      </p:sp>
      <p:sp>
        <p:nvSpPr>
          <p:cNvPr id="16" name="Text 14"/>
          <p:cNvSpPr/>
          <p:nvPr/>
        </p:nvSpPr>
        <p:spPr>
          <a:xfrm>
            <a:off x="6134349" y="4761161"/>
            <a:ext cx="260449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42"/>
              </a:lnSpc>
            </a:pPr>
            <a:r>
              <a:rPr lang="en-US" sz="2042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042" dirty="0"/>
          </a:p>
        </p:txBody>
      </p:sp>
      <p:sp>
        <p:nvSpPr>
          <p:cNvPr id="17" name="Text 15"/>
          <p:cNvSpPr/>
          <p:nvPr/>
        </p:nvSpPr>
        <p:spPr>
          <a:xfrm>
            <a:off x="6615906" y="4794746"/>
            <a:ext cx="217209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Downloadable Reports</a:t>
            </a:r>
            <a:endParaRPr lang="en-US" sz="1708" dirty="0"/>
          </a:p>
        </p:txBody>
      </p:sp>
      <p:sp>
        <p:nvSpPr>
          <p:cNvPr id="18" name="Text 16"/>
          <p:cNvSpPr/>
          <p:nvPr/>
        </p:nvSpPr>
        <p:spPr>
          <a:xfrm>
            <a:off x="6615906" y="5231408"/>
            <a:ext cx="49208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 structured incident summaries as PDF or JSON for SOC workflow integration</a:t>
            </a:r>
            <a:endParaRPr lang="en-US" sz="129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086EA9-1661-88E8-B0EF-C75D9EB15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348" y="1124262"/>
            <a:ext cx="8017652" cy="26904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8492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1027</Words>
  <Application>Microsoft Office PowerPoint</Application>
  <PresentationFormat>Widescreen</PresentationFormat>
  <Paragraphs>198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Consolas</vt:lpstr>
      <vt:lpstr>DM Sans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Classes &amp; Distribution Insight</vt:lpstr>
      <vt:lpstr>Feature Engineering</vt:lpstr>
      <vt:lpstr>PowerPoint Presentation</vt:lpstr>
      <vt:lpstr>System Architecture</vt:lpstr>
      <vt:lpstr>Intelligence Layer - Chroma DB Knowledge Base</vt:lpstr>
      <vt:lpstr>System Sequence Diagram – Network Sentinel (RAG-based Intrusion Detection)</vt:lpstr>
      <vt:lpstr>System Workflow</vt:lpstr>
      <vt:lpstr>PowerPoint Presentation</vt:lpstr>
      <vt:lpstr>PowerPoint Presentation</vt:lpstr>
      <vt:lpstr>App Interface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Sharmila Murisetty</dc:creator>
  <cp:lastModifiedBy>Sharmila Murisetty</cp:lastModifiedBy>
  <cp:revision>3</cp:revision>
  <dcterms:created xsi:type="dcterms:W3CDTF">2026-03-23T15:37:31Z</dcterms:created>
  <dcterms:modified xsi:type="dcterms:W3CDTF">2026-04-13T02:11:24Z</dcterms:modified>
</cp:coreProperties>
</file>